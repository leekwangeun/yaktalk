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02C39A"/>
                </a:solidFill>
                <a:latin typeface="Malgun Gothic"/>
              </a:rPr>
              <a:t>약물 상호작용 확인 챗봇  ·  약톡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Malgun Gothic"/>
              </a:rPr>
              <a:t>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0">
                <a:solidFill>
                  <a:srgbClr val="CFE6E6"/>
                </a:solidFill>
                <a:latin typeface="Malgun Gothic"/>
              </a:rPr>
              <a:t>공공데이터 수집부터 직접 학습한 AI, 그리고 배포까지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4800600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7316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구축 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13892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6C6"/>
                </a:solidFill>
                <a:latin typeface="Malgun Gothic"/>
              </a:rPr>
              <a:t>식약처 데이터 → 모델 학습</a:t>
            </a:r>
          </a:p>
        </p:txBody>
      </p:sp>
      <p:sp>
        <p:nvSpPr>
          <p:cNvPr id="9" name="Oval 8"/>
          <p:cNvSpPr/>
          <p:nvPr/>
        </p:nvSpPr>
        <p:spPr>
          <a:xfrm>
            <a:off x="4526280" y="4800600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77316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시스템 구조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513892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6C6"/>
                </a:solidFill>
                <a:latin typeface="Malgun Gothic"/>
              </a:rPr>
              <a:t>Vercel + HF Spaces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4800600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77316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질문 처리 흐름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138928"/>
            <a:ext cx="3017520" cy="36576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FC6C6"/>
                </a:solidFill>
                <a:latin typeface="Malgun Gothic"/>
              </a:rPr>
              <a:t>입력 → 판정 → 응답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6323B"/>
                </a:solidFill>
                <a:latin typeface="Malgun Gothic"/>
              </a:rPr>
              <a:t>구축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96112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F7178"/>
                </a:solidFill>
                <a:latin typeface="Malgun Gothic"/>
              </a:rPr>
              <a:t>식약처 공공데이터가 판단 근거이자 AI 학습 데이터가 되는 이중 활용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965960" cy="1417320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05343E"/>
                </a:solidFill>
                <a:latin typeface="Malgun Gothic"/>
              </a:rPr>
              <a:t>식약처 공공데이터</a:t>
            </a:r>
          </a:p>
          <a:p>
            <a:pPr algn="ctr"/>
            <a:r>
              <a:rPr sz="1000">
                <a:solidFill>
                  <a:srgbClr val="2C6E72"/>
                </a:solidFill>
                <a:latin typeface="Malgun Gothic"/>
              </a:rPr>
              <a:t>허가정보·DUR·e약은요  4개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39" y="2994660"/>
            <a:ext cx="270434" cy="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76473" y="2286000"/>
            <a:ext cx="1965960" cy="1417320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05343E"/>
                </a:solidFill>
                <a:latin typeface="Malgun Gothic"/>
              </a:rPr>
              <a:t>수집 · 전처리</a:t>
            </a:r>
          </a:p>
          <a:p>
            <a:pPr algn="ctr"/>
            <a:r>
              <a:rPr sz="1000">
                <a:solidFill>
                  <a:srgbClr val="2C6E72"/>
                </a:solidFill>
                <a:latin typeface="Malgun Gothic"/>
              </a:rPr>
              <a:t>20만 행 → 정제  drug_light.db 43MB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42433" y="2994660"/>
            <a:ext cx="270434" cy="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12867" y="2286000"/>
            <a:ext cx="1965960" cy="141732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2C2568"/>
                </a:solidFill>
                <a:latin typeface="Malgun Gothic"/>
              </a:rPr>
              <a:t>학습 데이터 합성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질문 4만 문장  응답 9천 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78827" y="2994660"/>
            <a:ext cx="270434" cy="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49261" y="2286000"/>
            <a:ext cx="1965960" cy="141732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2C2568"/>
                </a:solidFill>
                <a:latin typeface="Malgun Gothic"/>
              </a:rPr>
              <a:t>Colab 파인튜닝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KoELECTRA ×2  KoGPT2 ×1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15221" y="2994660"/>
            <a:ext cx="270434" cy="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85655" y="2286000"/>
            <a:ext cx="1965960" cy="141732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2C2568"/>
                </a:solidFill>
                <a:latin typeface="Malgun Gothic"/>
              </a:rPr>
              <a:t>로컬 모델 자산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외부 API 0  오프라인 동작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10911535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9050">
            <a:solidFill>
              <a:srgbClr val="02C3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500" b="1">
                <a:solidFill>
                  <a:srgbClr val="16323B"/>
                </a:solidFill>
                <a:latin typeface="Malgun Gothic"/>
              </a:rPr>
              <a:t>핵심: 허가정보 제품명 사전 × 질문 템플릿 → 라벨링 학습 데이터를 직접 합성</a:t>
            </a:r>
          </a:p>
          <a:p>
            <a:pPr algn="ctr"/>
            <a:r>
              <a:rPr sz="1150">
                <a:solidFill>
                  <a:srgbClr val="5F7178"/>
                </a:solidFill>
                <a:latin typeface="Malgun Gothic"/>
              </a:rPr>
              <a:t>라벨 데이터가 없다는 한계를 '공공데이터로 데이터를 만드는' 방식으로 해결 — 같은 데이터가 판정 근거이자 학습 재료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650992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586984"/>
            <a:ext cx="100584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식약처 데이터</a:t>
            </a:r>
          </a:p>
        </p:txBody>
      </p:sp>
      <p:sp>
        <p:nvSpPr>
          <p:cNvPr id="18" name="Oval 17"/>
          <p:cNvSpPr/>
          <p:nvPr/>
        </p:nvSpPr>
        <p:spPr>
          <a:xfrm>
            <a:off x="2231136" y="565099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50592" y="5586984"/>
            <a:ext cx="1133856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직접 학습 모델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6323B"/>
                </a:solidFill>
                <a:latin typeface="Malgun Gothic"/>
              </a:rPr>
              <a:t>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96112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F7178"/>
                </a:solidFill>
                <a:latin typeface="Malgun Gothic"/>
              </a:rPr>
              <a:t>프론트(Vercel)와 백엔드(Hugging Face Spaces)를 분리 — 모든 모델·데이터는 컨테이너 내부에 탑재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2743200" cy="8686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5875">
            <a:solidFill>
              <a:srgbClr val="C9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16323B"/>
                </a:solidFill>
                <a:latin typeface="Malgun Gothic"/>
              </a:rPr>
              <a:t>사용자 브라우저</a:t>
            </a:r>
          </a:p>
          <a:p>
            <a:pPr algn="ctr"/>
            <a:r>
              <a:rPr sz="1050">
                <a:solidFill>
                  <a:srgbClr val="5F7178"/>
                </a:solidFill>
                <a:latin typeface="Malgun Gothic"/>
              </a:rPr>
              <a:t>채팅 · 노인/임산부 토글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2121408"/>
            <a:ext cx="594359" cy="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77639" y="1691640"/>
            <a:ext cx="2743200" cy="86868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5875">
            <a:solidFill>
              <a:srgbClr val="C9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16323B"/>
                </a:solidFill>
                <a:latin typeface="Malgun Gothic"/>
              </a:rPr>
              <a:t>Vercel</a:t>
            </a:r>
          </a:p>
          <a:p>
            <a:pPr algn="ctr"/>
            <a:r>
              <a:rPr sz="1050">
                <a:solidFill>
                  <a:srgbClr val="5F7178"/>
                </a:solidFill>
                <a:latin typeface="Malgun Gothic"/>
              </a:rPr>
              <a:t>web/ 정적 채팅 UI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0" cy="411480"/>
          </a:xfrm>
          <a:prstGeom prst="line">
            <a:avLst/>
          </a:prstGeom>
          <a:ln w="22225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017520"/>
            <a:ext cx="10911535" cy="2788920"/>
          </a:xfrm>
          <a:prstGeom prst="roundRect">
            <a:avLst>
              <a:gd name="adj" fmla="val 4000"/>
            </a:avLst>
          </a:prstGeom>
          <a:solidFill>
            <a:srgbClr val="ECF1F2"/>
          </a:solidFill>
          <a:ln w="15875">
            <a:solidFill>
              <a:srgbClr val="566B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1">
                <a:solidFill>
                  <a:srgbClr val="37474F"/>
                </a:solidFill>
                <a:latin typeface="Malgun Gothic"/>
              </a:rPr>
              <a:t>Hugging Face Spaces  —  Docker · FastAPI(api.py) · 포트 7860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11880"/>
            <a:ext cx="3291840" cy="91440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2C2568"/>
                </a:solidFill>
                <a:latin typeface="Malgun Gothic"/>
              </a:rPr>
              <a:t>① 자연어 이해</a:t>
            </a:r>
          </a:p>
          <a:p>
            <a:pPr algn="ctr"/>
            <a:r>
              <a:rPr sz="1050">
                <a:solidFill>
                  <a:srgbClr val="5B51B0"/>
                </a:solidFill>
                <a:latin typeface="Malgun Gothic"/>
              </a:rPr>
              <a:t>사전 + 자모 + KoELECTRA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4526280"/>
            <a:ext cx="0" cy="292608"/>
          </a:xfrm>
          <a:prstGeom prst="line">
            <a:avLst/>
          </a:prstGeom>
          <a:ln w="1778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846320"/>
            <a:ext cx="3291840" cy="841248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2C2568"/>
                </a:solidFill>
                <a:latin typeface="Malgun Gothic"/>
              </a:rPr>
              <a:t>KoELECTRA ×2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NER · 의도  55MB×2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3611880"/>
            <a:ext cx="3291840" cy="914400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05343E"/>
                </a:solidFill>
                <a:latin typeface="Malgun Gothic"/>
              </a:rPr>
              <a:t>② 위험도 판정</a:t>
            </a:r>
          </a:p>
          <a:p>
            <a:pPr algn="ctr"/>
            <a:r>
              <a:rPr sz="1050">
                <a:solidFill>
                  <a:srgbClr val="2C6E72"/>
                </a:solidFill>
                <a:latin typeface="Malgun Gothic"/>
              </a:rPr>
              <a:t>DUR 검사 6종 · 엔티티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4526280"/>
            <a:ext cx="0" cy="292608"/>
          </a:xfrm>
          <a:prstGeom prst="line">
            <a:avLst/>
          </a:prstGeom>
          <a:ln w="1778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49927" y="4846320"/>
            <a:ext cx="3291840" cy="841248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05343E"/>
                </a:solidFill>
                <a:latin typeface="Malgun Gothic"/>
              </a:rPr>
              <a:t>drug_light.db</a:t>
            </a:r>
          </a:p>
          <a:p>
            <a:pPr algn="ctr"/>
            <a:r>
              <a:rPr sz="1000">
                <a:solidFill>
                  <a:srgbClr val="2C6E72"/>
                </a:solidFill>
                <a:latin typeface="Malgun Gothic"/>
              </a:rPr>
              <a:t>식약처 12테이블 43MB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85455" y="3611880"/>
            <a:ext cx="3291840" cy="91440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2C2568"/>
                </a:solidFill>
                <a:latin typeface="Malgun Gothic"/>
              </a:rPr>
              <a:t>③ 응답 생성</a:t>
            </a:r>
          </a:p>
          <a:p>
            <a:pPr algn="ctr"/>
            <a:r>
              <a:rPr sz="1050">
                <a:solidFill>
                  <a:srgbClr val="5B51B0"/>
                </a:solidFill>
                <a:latin typeface="Malgun Gothic"/>
              </a:rPr>
              <a:t>KoGPT2 → 검증 게이트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31375" y="4526280"/>
            <a:ext cx="0" cy="292608"/>
          </a:xfrm>
          <a:prstGeom prst="line">
            <a:avLst/>
          </a:prstGeom>
          <a:ln w="1778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85455" y="4846320"/>
            <a:ext cx="3291840" cy="841248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250" b="1">
                <a:solidFill>
                  <a:srgbClr val="2C2568"/>
                </a:solidFill>
                <a:latin typeface="Malgun Gothic"/>
              </a:rPr>
              <a:t>KoGPT2 + 템플릿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생성 481MB · 폴백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16323B"/>
                </a:solidFill>
                <a:latin typeface="Malgun Gothic"/>
              </a:rPr>
              <a:t>오프라인 데모: </a:t>
            </a:r>
            <a:r>
              <a:rPr sz="1250" b="0">
                <a:solidFill>
                  <a:srgbClr val="5F7178"/>
                </a:solidFill>
                <a:latin typeface="Malgun Gothic"/>
              </a:rPr>
              <a:t>uvicorn api:app --app-dir src  한 줄로 동일 구성 로컬 실행 (발표장 무중단)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601675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5952744"/>
            <a:ext cx="1133856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직접 학습 모델</a:t>
            </a:r>
          </a:p>
        </p:txBody>
      </p:sp>
      <p:sp>
        <p:nvSpPr>
          <p:cNvPr id="24" name="Oval 23"/>
          <p:cNvSpPr/>
          <p:nvPr/>
        </p:nvSpPr>
        <p:spPr>
          <a:xfrm>
            <a:off x="9948672" y="6016752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68128" y="5952744"/>
            <a:ext cx="100584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식약처 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47548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02336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500" b="1">
                <a:solidFill>
                  <a:srgbClr val="16323B"/>
                </a:solidFill>
                <a:latin typeface="Malgun Gothic"/>
              </a:rPr>
              <a:t>질문 처리 흐름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96112"/>
            <a:ext cx="10424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5F7178"/>
                </a:solidFill>
                <a:latin typeface="Malgun Gothic"/>
              </a:rPr>
              <a:t>입력 "타이레놀이랑 판콜 같이 먹어도 돼?" 가 응답이 되기까지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834640" cy="9144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5875">
            <a:solidFill>
              <a:srgbClr val="C9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50" b="1">
                <a:solidFill>
                  <a:srgbClr val="16323B"/>
                </a:solidFill>
                <a:latin typeface="Malgun Gothic"/>
              </a:rPr>
              <a:t>사용자 입력</a:t>
            </a:r>
          </a:p>
          <a:p>
            <a:pPr algn="ctr"/>
            <a:r>
              <a:rPr sz="1100">
                <a:solidFill>
                  <a:srgbClr val="5F7178"/>
                </a:solidFill>
                <a:latin typeface="Malgun Gothic"/>
              </a:rPr>
              <a:t>"타이레놀이랑 판콜
같이 먹어도 돼?"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63240"/>
            <a:ext cx="2084831" cy="137160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2C2568"/>
                </a:solidFill>
                <a:latin typeface="Malgun Gothic"/>
              </a:rPr>
              <a:t>① 의도 분류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KoELECTRA → 병용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24911" y="3749039"/>
            <a:ext cx="121844" cy="0"/>
          </a:xfrm>
          <a:prstGeom prst="line">
            <a:avLst/>
          </a:prstGeom>
          <a:ln w="1905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46755" y="3063240"/>
            <a:ext cx="2084831" cy="137160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2C2568"/>
                </a:solidFill>
                <a:latin typeface="Malgun Gothic"/>
              </a:rPr>
              <a:t>② 약 이름 추출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사전 + NER 앙상블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1587" y="3749039"/>
            <a:ext cx="121844" cy="0"/>
          </a:xfrm>
          <a:prstGeom prst="line">
            <a:avLst/>
          </a:prstGeom>
          <a:ln w="1905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53431" y="3063240"/>
            <a:ext cx="2084831" cy="1371600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5343E"/>
                </a:solidFill>
                <a:latin typeface="Malgun Gothic"/>
              </a:rPr>
              <a:t>③ 제품→성분 변환</a:t>
            </a:r>
          </a:p>
          <a:p>
            <a:pPr algn="ctr"/>
            <a:r>
              <a:rPr sz="1000">
                <a:solidFill>
                  <a:srgbClr val="2C6E72"/>
                </a:solidFill>
                <a:latin typeface="Malgun Gothic"/>
              </a:rPr>
              <a:t>허가정보 DB 조회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8263" y="3749039"/>
            <a:ext cx="121844" cy="0"/>
          </a:xfrm>
          <a:prstGeom prst="line">
            <a:avLst/>
          </a:prstGeom>
          <a:ln w="1905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60107" y="3063240"/>
            <a:ext cx="2084831" cy="1371600"/>
          </a:xfrm>
          <a:prstGeom prst="roundRect">
            <a:avLst>
              <a:gd name="adj" fmla="val 11000"/>
            </a:avLst>
          </a:prstGeom>
          <a:solidFill>
            <a:srgbClr val="E2F0F0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05343E"/>
                </a:solidFill>
                <a:latin typeface="Malgun Gothic"/>
              </a:rPr>
              <a:t>④ 위험도 검사</a:t>
            </a:r>
          </a:p>
          <a:p>
            <a:pPr algn="ctr"/>
            <a:r>
              <a:rPr sz="1000">
                <a:solidFill>
                  <a:srgbClr val="2C6E72"/>
                </a:solidFill>
                <a:latin typeface="Malgun Gothic"/>
              </a:rPr>
              <a:t>DUR 병용금기·중복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44939" y="3749039"/>
            <a:ext cx="121844" cy="0"/>
          </a:xfrm>
          <a:prstGeom prst="line">
            <a:avLst/>
          </a:prstGeom>
          <a:ln w="1905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466783" y="3063240"/>
            <a:ext cx="2084831" cy="1371600"/>
          </a:xfrm>
          <a:prstGeom prst="roundRect">
            <a:avLst>
              <a:gd name="adj" fmla="val 11000"/>
            </a:avLst>
          </a:prstGeom>
          <a:solidFill>
            <a:srgbClr val="EAE7FB"/>
          </a:solidFill>
          <a:ln w="15875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2C2568"/>
                </a:solidFill>
                <a:latin typeface="Malgun Gothic"/>
              </a:rPr>
              <a:t>⑤ 응답 생성</a:t>
            </a:r>
          </a:p>
          <a:p>
            <a:pPr algn="ctr"/>
            <a:r>
              <a:rPr sz="1000">
                <a:solidFill>
                  <a:srgbClr val="5B51B0"/>
                </a:solidFill>
                <a:latin typeface="Malgun Gothic"/>
              </a:rPr>
              <a:t>KoGPT2 + 게이트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2560320"/>
            <a:ext cx="0" cy="502920"/>
          </a:xfrm>
          <a:prstGeom prst="line">
            <a:avLst/>
          </a:prstGeom>
          <a:ln w="19050">
            <a:solidFill>
              <a:srgbClr val="566B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" y="4800600"/>
            <a:ext cx="5212080" cy="96012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15875">
            <a:solidFill>
              <a:srgbClr val="C9D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300" b="1">
                <a:solidFill>
                  <a:srgbClr val="16323B"/>
                </a:solidFill>
                <a:latin typeface="Malgun Gothic"/>
              </a:rPr>
              <a:t>모호한 입력이면 → 되묻기</a:t>
            </a:r>
          </a:p>
          <a:p>
            <a:pPr algn="ctr"/>
            <a:r>
              <a:rPr sz="1050">
                <a:solidFill>
                  <a:srgbClr val="5F7178"/>
                </a:solidFill>
                <a:latin typeface="Malgun Gothic"/>
              </a:rPr>
              <a:t>"감기약이신가요? 판콜에스·판피린큐 중에…" (멀티턴, 문맥 유지)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800600"/>
            <a:ext cx="5242255" cy="960120"/>
          </a:xfrm>
          <a:prstGeom prst="roundRect">
            <a:avLst>
              <a:gd name="adj" fmla="val 11000"/>
            </a:avLst>
          </a:prstGeom>
          <a:solidFill>
            <a:srgbClr val="FEF3E0"/>
          </a:solidFill>
          <a:ln w="15875">
            <a:solidFill>
              <a:srgbClr val="E891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/>
            <a:r>
              <a:rPr sz="1400" b="1">
                <a:solidFill>
                  <a:srgbClr val="7A4A08"/>
                </a:solidFill>
                <a:latin typeface="Malgun Gothic"/>
              </a:rPr>
              <a:t>🟠 주의  —  아세트아미노펜 중복</a:t>
            </a:r>
          </a:p>
          <a:p>
            <a:pPr algn="ctr"/>
            <a:r>
              <a:rPr sz="1050">
                <a:solidFill>
                  <a:srgbClr val="9A6212"/>
                </a:solidFill>
                <a:latin typeface="Malgun Gothic"/>
              </a:rPr>
              <a:t>두 약 모두 아세트아미노펜 함유 → 과량 위험 (1일 최대 4,000mg)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6108192"/>
            <a:ext cx="146304" cy="146304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6044184"/>
            <a:ext cx="1133856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직접 학습 모델</a:t>
            </a:r>
          </a:p>
        </p:txBody>
      </p:sp>
      <p:sp>
        <p:nvSpPr>
          <p:cNvPr id="21" name="Oval 20"/>
          <p:cNvSpPr/>
          <p:nvPr/>
        </p:nvSpPr>
        <p:spPr>
          <a:xfrm>
            <a:off x="2359152" y="6108192"/>
            <a:ext cx="146304" cy="14630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6044184"/>
            <a:ext cx="1005840" cy="274320"/>
          </a:xfrm>
          <a:prstGeom prst="rect">
            <a:avLst/>
          </a:prstGeom>
          <a:noFill/>
        </p:spPr>
        <p:txBody>
          <a:bodyPr wrap="non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5F7178"/>
                </a:solidFill>
                <a:latin typeface="Malgun Gothic"/>
              </a:rPr>
              <a:t>식약처 데이터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3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algun Gothic"/>
              </a:rPr>
              <a:t>핵심 설계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2C39A"/>
                </a:solidFill>
                <a:latin typeface="Malgun Gothic"/>
              </a:rPr>
              <a:t>"AI가 창작할 수 있는 자리를 구조적으로 없앴다"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69748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0C4650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300837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algun Gothic"/>
              </a:rPr>
              <a:t>이해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2788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1">
                <a:solidFill>
                  <a:srgbClr val="02C39A"/>
                </a:solidFill>
                <a:latin typeface="Malgun Gothic"/>
              </a:rPr>
              <a:t>직접 학습한 모델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사용자의 자연어·상품명·오타를</a:t>
            </a:r>
          </a:p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KoELECTRA NER과 사전으로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347" y="269748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0C4650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01387" y="30175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0027" y="300837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algun Gothic"/>
              </a:rPr>
              <a:t>판단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1387" y="3749039"/>
            <a:ext cx="2788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1">
                <a:solidFill>
                  <a:srgbClr val="02C39A"/>
                </a:solidFill>
                <a:latin typeface="Malgun Gothic"/>
              </a:rPr>
              <a:t>100% 식약처 공공데이터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1387" y="425196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위험 여부는 DUR 규칙만으로 결정</a:t>
            </a:r>
          </a:p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AI는 의학적 판단에 관여하지 않음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85455" y="2697480"/>
            <a:ext cx="3429000" cy="2514600"/>
          </a:xfrm>
          <a:prstGeom prst="roundRect">
            <a:avLst>
              <a:gd name="adj" fmla="val 6000"/>
            </a:avLst>
          </a:prstGeom>
          <a:solidFill>
            <a:srgbClr val="0C4650"/>
          </a:solidFill>
          <a:ln w="1905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5495" y="3017520"/>
            <a:ext cx="457200" cy="457200"/>
          </a:xfrm>
          <a:prstGeom prst="ellipse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4135" y="3008376"/>
            <a:ext cx="24231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Malgun Gothic"/>
              </a:rPr>
              <a:t>표현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495" y="3749039"/>
            <a:ext cx="2788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50" b="1">
                <a:solidFill>
                  <a:srgbClr val="02C39A"/>
                </a:solidFill>
                <a:latin typeface="Malgun Gothic"/>
              </a:rPr>
              <a:t>검증 게이트 + 템플릿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495" y="4251960"/>
            <a:ext cx="278892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KoGPT2 생성문이 사실 검증을</a:t>
            </a:r>
          </a:p>
          <a:p>
            <a:pPr algn="l"/>
            <a:r>
              <a:rPr sz="1200" b="0">
                <a:solidFill>
                  <a:srgbClr val="CFE6E6"/>
                </a:solidFill>
                <a:latin typeface="Malgun Gothic"/>
              </a:rPr>
              <a:t>통과할 때만 사용, 실패 시 템플릿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2356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02C39A"/>
                </a:solidFill>
                <a:latin typeface="Malgun Gothic"/>
              </a:rPr>
              <a:t>결과: </a:t>
            </a:r>
            <a:r>
              <a:rPr sz="1300" b="0">
                <a:solidFill>
                  <a:srgbClr val="CFE6E6"/>
                </a:solidFill>
                <a:latin typeface="Malgun Gothic"/>
              </a:rPr>
              <a:t>외부 AI API 의존 0 · 완전 오프라인 동작 · 근거는 항상 식약처 원문 인용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